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67B8"/>
                </a:solidFill>
              </a:rPr>
              <a:t>Architecture and Design</a:t>
            </a:r>
          </a:p>
        </p:txBody>
      </p:sp>
      <p:sp>
        <p:nvSpPr>
          <p:cNvPr id="3" name="Subtitle 2"/>
          <p:cNvSpPr>
            <a:spLocks noGrp="1"/>
          </p:cNvSpPr>
          <p:nvPr>
            <p:ph type="subTitle" idx="1"/>
          </p:nvPr>
        </p:nvSpPr>
        <p:spPr/>
        <p:txBody>
          <a:bodyPr/>
          <a:lstStyle/>
          <a:p>
            <a:r>
              <a:t>Tutorial Safety Incident Reporting</a:t>
            </a:r>
          </a:p>
          <a:p>
            <a:r>
              <a:t>Agentic SDLC Factory · October 26,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Architecture Proposal — Tutorial Safety Incident Reporting</a:t>
            </a:r>
          </a:p>
        </p:txBody>
      </p:sp>
      <p:sp>
        <p:nvSpPr>
          <p:cNvPr id="3" name="Content Placeholder 2"/>
          <p:cNvSpPr>
            <a:spLocks noGrp="1"/>
          </p:cNvSpPr>
          <p:nvPr>
            <p:ph idx="1"/>
          </p:nvPr>
        </p:nvSpPr>
        <p:spPr/>
        <p:txBody>
          <a:bodyPr/>
          <a:lstStyle/>
          <a:p>
            <a:r>
              <a:rPr sz="1800"/>
              <a:t>Status: Proposed for review Lifecycle stage: Design Project: Tutorial Safety Incident Reporting Target environment: Dev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1. Executive Summary</a:t>
            </a:r>
          </a:p>
        </p:txBody>
      </p:sp>
      <p:sp>
        <p:nvSpPr>
          <p:cNvPr id="3" name="Content Placeholder 2"/>
          <p:cNvSpPr>
            <a:spLocks noGrp="1"/>
          </p:cNvSpPr>
          <p:nvPr>
            <p:ph idx="1"/>
          </p:nvPr>
        </p:nvSpPr>
        <p:spPr/>
        <p:txBody>
          <a:bodyPr/>
          <a:lstStyle/>
          <a:p>
            <a:r>
              <a:rPr sz="1500"/>
              <a:t>This proposal defines a reviewable architecture for a mobile-first tutorial application that supports the end-to-end safety incident workflow:</a:t>
            </a:r>
          </a:p>
          <a:p>
            <a:r>
              <a:rPr sz="1500"/>
              <a:t>rapid incident reporting on site,</a:t>
            </a:r>
          </a:p>
          <a:p>
            <a:r>
              <a:rPr sz="1500"/>
              <a:t>triage and notification by a safety lead,</a:t>
            </a:r>
          </a:p>
          <a:p>
            <a:r>
              <a:rPr sz="1500"/>
              <a:t>corrective-action tracking through verified completion,</a:t>
            </a:r>
          </a:p>
          <a:p>
            <a:r>
              <a:rPr sz="1500"/>
              <a:t>closure into a retained record suitable to support downstream statutory reporting.</a:t>
            </a:r>
          </a:p>
          <a:p>
            <a:r>
              <a:rPr sz="1500"/>
              <a:t>The architecture aligns with the selected stack:</a:t>
            </a:r>
          </a:p>
          <a:p>
            <a:r>
              <a:rPr sz="1500"/>
              <a:t>UI: Angular + Ionic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Technical Requirements (Derived)</a:t>
            </a:r>
          </a:p>
        </p:txBody>
      </p:sp>
      <p:sp>
        <p:nvSpPr>
          <p:cNvPr id="3" name="Content Placeholder 2"/>
          <p:cNvSpPr>
            <a:spLocks noGrp="1"/>
          </p:cNvSpPr>
          <p:nvPr>
            <p:ph idx="1"/>
          </p:nvPr>
        </p:nvSpPr>
        <p:spPr/>
        <p:txBody>
          <a:bodyPr/>
          <a:lstStyle/>
          <a:p>
            <a:r>
              <a:rPr sz="1500"/>
              <a:t>The following minimum technical requirements are derived from the approved requirements artifact and intake document.</a:t>
            </a:r>
          </a:p>
          <a:p>
            <a:r>
              <a:rPr sz="1500"/>
              <a:t>Identity provider is not specified in the approved artifacts; this proposal assumes an enterprise identity provider compatible with OAuth2/OIDC, with Microsoft Entra ID preferred for Azure-hosted Dev deployment.</a:t>
            </a:r>
          </a:p>
          <a:p>
            <a:r>
              <a:rPr sz="1500"/>
              <a:t>Attachment storage is required logically for evidence references, but the intake does not explicitly require binary file upload in the first release. This proposal supports metadata and an abstraction for attachments;…</a:t>
            </a:r>
          </a:p>
          <a:p>
            <a:r>
              <a:rPr sz="1500"/>
              <a:t>Offline-first behavior is not explicitly required. This proposal supports mobile-responsive online use, not full offline synchronization.</a:t>
            </a:r>
          </a:p>
          <a:p>
            <a:r>
              <a:rPr sz="1500"/>
              <a:t>Statutory reporting output is interpreted as a complete retained record and export-ready data structure, not generation of jurisdiction-specific regulatory forms.</a:t>
            </a:r>
          </a:p>
          <a:p>
            <a:r>
              <a:rPr sz="1500"/>
              <a:t>Notification delivery is modeled as recorded notification actions and pluggable outbound integration; actual email/SMS provider enablement may require separate approval depending on environment readiness.</a:t>
            </a:r>
          </a:p>
          <a:p>
            <a:r>
              <a:rPr sz="1500"/>
              <a:t>PII classification policy is not provided; this proposal treats incident and person-related data as sensitive by default.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UX Mockups (Derived)</a:t>
            </a:r>
          </a:p>
        </p:txBody>
      </p:sp>
      <p:sp>
        <p:nvSpPr>
          <p:cNvPr id="3" name="Content Placeholder 2"/>
          <p:cNvSpPr>
            <a:spLocks noGrp="1"/>
          </p:cNvSpPr>
          <p:nvPr>
            <p:ph idx="1"/>
          </p:nvPr>
        </p:nvSpPr>
        <p:spPr/>
        <p:txBody>
          <a:bodyPr/>
          <a:lstStyle/>
          <a:p>
            <a:r>
              <a:rPr sz="1500"/>
              <a:t>No UX mockups were provided, so the following derived UX structure is proposed from the approved requirements.</a:t>
            </a:r>
          </a:p>
          <a:p>
            <a:r>
              <a:rPr sz="1500"/>
              <a:t>Mobile: bottom tab or compact menu for Dashboard, Report, Assigned Actions, Profile; deep-linked workflow pages for incident-specific tasks.</a:t>
            </a:r>
          </a:p>
          <a:p>
            <a:r>
              <a:rPr sz="1500"/>
              <a:t>Desktop: left-side navigation with dashboard and work queues; content area for detail views.</a:t>
            </a:r>
          </a:p>
          <a:p>
            <a:r>
              <a:rPr sz="1500"/>
              <a:t>Contextual navigation: incident detail page acts as the hub with tabs/segments:</a:t>
            </a:r>
          </a:p>
          <a:p>
            <a:r>
              <a:rPr sz="1500"/>
              <a:t>Summary</a:t>
            </a:r>
          </a:p>
          <a:p>
            <a:r>
              <a:rPr sz="1500"/>
              <a:t>Triage</a:t>
            </a:r>
          </a:p>
          <a:p>
            <a:r>
              <a:rPr sz="1500"/>
              <a:t>Investigation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2. Architecture Drivers</a:t>
            </a:r>
          </a:p>
        </p:txBody>
      </p:sp>
      <p:sp>
        <p:nvSpPr>
          <p:cNvPr id="3" name="Content Placeholder 2"/>
          <p:cNvSpPr>
            <a:spLocks noGrp="1"/>
          </p:cNvSpPr>
          <p:nvPr>
            <p:ph idx="1"/>
          </p:nvPr>
        </p:nvSpPr>
        <p:spPr/>
        <p:txBody>
          <a:bodyPr/>
          <a:lstStyle/>
          <a:p>
            <a:r>
              <a:rPr sz="1500"/>
              <a:t>Mobile-first reporting speed</a:t>
            </a:r>
          </a:p>
          <a:p>
            <a:r>
              <a:rPr sz="1500"/>
              <a:t>Workflow traceability and auditability</a:t>
            </a:r>
          </a:p>
          <a:p>
            <a:r>
              <a:rPr sz="1500"/>
              <a:t>Role-based access to sensitive records</a:t>
            </a:r>
          </a:p>
          <a:p>
            <a:r>
              <a:rPr sz="1500"/>
              <a:t>Clear separation between tutorial app scope and downstream systems</a:t>
            </a:r>
          </a:p>
          <a:p>
            <a:r>
              <a:rPr sz="1500"/>
              <a:t>Fast implementation using selected stack</a:t>
            </a:r>
          </a:p>
          <a:p>
            <a:r>
              <a:rPr sz="1500"/>
              <a:t>Dev-friendly deployment and observability</a:t>
            </a:r>
          </a:p>
          <a:p>
            <a:r>
              <a:rPr sz="1500"/>
              <a:t>Must use Angular + Ionic, FastAPI, PostgreSQL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3. Proposed Architecture Overview</a:t>
            </a:r>
          </a:p>
        </p:txBody>
      </p:sp>
      <p:sp>
        <p:nvSpPr>
          <p:cNvPr id="3" name="Content Placeholder 2"/>
          <p:cNvSpPr>
            <a:spLocks noGrp="1"/>
          </p:cNvSpPr>
          <p:nvPr>
            <p:ph idx="1"/>
          </p:nvPr>
        </p:nvSpPr>
        <p:spPr/>
        <p:txBody>
          <a:bodyPr/>
          <a:lstStyle/>
          <a:p>
            <a:r>
              <a:rPr sz="1500"/>
              <a:t>A modular three-tier web architecture is proposed:</a:t>
            </a:r>
          </a:p>
          <a:p>
            <a:r>
              <a:rPr sz="1500"/>
              <a:t>Angular + Ionic SPA</a:t>
            </a:r>
          </a:p>
          <a:p>
            <a:r>
              <a:rPr sz="1500"/>
              <a:t>responsive mobile/desktop UI</a:t>
            </a:r>
          </a:p>
          <a:p>
            <a:r>
              <a:rPr sz="1500"/>
              <a:t>role-aware workflow screens</a:t>
            </a:r>
          </a:p>
          <a:p>
            <a:r>
              <a:rPr sz="1500"/>
              <a:t>communicates with backend via REST APIs</a:t>
            </a:r>
          </a:p>
          <a:p>
            <a:r>
              <a:rPr sz="1500"/>
              <a:t>uses OIDC/OAuth2 authentication</a:t>
            </a:r>
          </a:p>
          <a:p>
            <a:r>
              <a:rPr sz="1500"/>
              <a:t>FastAPI backend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4. Context View</a:t>
            </a:r>
          </a:p>
        </p:txBody>
      </p:sp>
      <p:graphicFrame>
        <p:nvGraphicFramePr>
          <p:cNvPr id="3" name="Table 2"/>
          <p:cNvGraphicFramePr>
            <a:graphicFrameLocks noGrp="1"/>
          </p:cNvGraphicFramePr>
          <p:nvPr/>
        </p:nvGraphicFramePr>
        <p:xfrm>
          <a:off x="548640" y="1371600"/>
          <a:ext cx="11064240" cy="29260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300"/>
                        <a:t>Actor/System</a:t>
                      </a:r>
                    </a:p>
                  </a:txBody>
                  <a:tcPr/>
                </a:tc>
                <a:tc>
                  <a:txBody>
                    <a:bodyPr/>
                    <a:lstStyle/>
                    <a:p>
                      <a:r>
                        <a:rPr sz="1300"/>
                        <a:t>Interaction</a:t>
                      </a:r>
                    </a:p>
                  </a:txBody>
                  <a:tcPr/>
                </a:tc>
              </a:tr>
              <a:tr h="365760">
                <a:tc>
                  <a:txBody>
                    <a:bodyPr/>
                    <a:lstStyle/>
                    <a:p>
                      <a:r>
                        <a:rPr sz="1200"/>
                        <a:t>Reporter</a:t>
                      </a:r>
                    </a:p>
                  </a:txBody>
                  <a:tcPr/>
                </a:tc>
                <a:tc>
                  <a:txBody>
                    <a:bodyPr/>
                    <a:lstStyle/>
                    <a:p>
                      <a:r>
                        <a:rPr sz="1200"/>
                        <a:t>Creates incident reports and views own relevant records</a:t>
                      </a:r>
                    </a:p>
                  </a:txBody>
                  <a:tcPr/>
                </a:tc>
              </a:tr>
              <a:tr h="365760">
                <a:tc>
                  <a:txBody>
                    <a:bodyPr/>
                    <a:lstStyle/>
                    <a:p>
                      <a:r>
                        <a:rPr sz="1200"/>
                        <a:t>Safety lead</a:t>
                      </a:r>
                    </a:p>
                  </a:txBody>
                  <a:tcPr/>
                </a:tc>
                <a:tc>
                  <a:txBody>
                    <a:bodyPr/>
                    <a:lstStyle/>
                    <a:p>
                      <a:r>
                        <a:rPr sz="1200"/>
                        <a:t>Triages incidents, records notifications, investigates, closes</a:t>
                      </a:r>
                    </a:p>
                  </a:txBody>
                  <a:tcPr/>
                </a:tc>
              </a:tr>
              <a:tr h="365760">
                <a:tc>
                  <a:txBody>
                    <a:bodyPr/>
                    <a:lstStyle/>
                    <a:p>
                      <a:r>
                        <a:rPr sz="1200"/>
                        <a:t>Corrective-action owner</a:t>
                      </a:r>
                    </a:p>
                  </a:txBody>
                  <a:tcPr/>
                </a:tc>
                <a:tc>
                  <a:txBody>
                    <a:bodyPr/>
                    <a:lstStyle/>
                    <a:p>
                      <a:r>
                        <a:rPr sz="1200"/>
                        <a:t>Updates assigned actions</a:t>
                      </a:r>
                    </a:p>
                  </a:txBody>
                  <a:tcPr/>
                </a:tc>
              </a:tr>
              <a:tr h="365760">
                <a:tc>
                  <a:txBody>
                    <a:bodyPr/>
                    <a:lstStyle/>
                    <a:p>
                      <a:r>
                        <a:rPr sz="1200"/>
                        <a:t>Reviewer/Auditor</a:t>
                      </a:r>
                    </a:p>
                  </a:txBody>
                  <a:tcPr/>
                </a:tc>
                <a:tc>
                  <a:txBody>
                    <a:bodyPr/>
                    <a:lstStyle/>
                    <a:p>
                      <a:r>
                        <a:rPr sz="1200"/>
                        <a:t>Reviews closed records and history</a:t>
                      </a:r>
                    </a:p>
                  </a:txBody>
                  <a:tcPr/>
                </a:tc>
              </a:tr>
              <a:tr h="365760">
                <a:tc>
                  <a:txBody>
                    <a:bodyPr/>
                    <a:lstStyle/>
                    <a:p>
                      <a:r>
                        <a:rPr sz="1200"/>
                        <a:t>Identity provider</a:t>
                      </a:r>
                    </a:p>
                  </a:txBody>
                  <a:tcPr/>
                </a:tc>
                <a:tc>
                  <a:txBody>
                    <a:bodyPr/>
                    <a:lstStyle/>
                    <a:p>
                      <a:r>
                        <a:rPr sz="1200"/>
                        <a:t>Authenticates users and provides claims/roles</a:t>
                      </a:r>
                    </a:p>
                  </a:txBody>
                  <a:tcPr/>
                </a:tc>
              </a:tr>
              <a:tr h="365760">
                <a:tc>
                  <a:txBody>
                    <a:bodyPr/>
                    <a:lstStyle/>
                    <a:p>
                      <a:r>
                        <a:rPr sz="1200"/>
                        <a:t>Notification provider</a:t>
                      </a:r>
                    </a:p>
                  </a:txBody>
                  <a:tcPr/>
                </a:tc>
                <a:tc>
                  <a:txBody>
                    <a:bodyPr/>
                    <a:lstStyle/>
                    <a:p>
                      <a:r>
                        <a:rPr sz="1200"/>
                        <a:t>Sends or records outbound notifications</a:t>
                      </a:r>
                    </a:p>
                  </a:txBody>
                  <a:tcPr/>
                </a:tc>
              </a:tr>
              <a:tr h="365760">
                <a:tc>
                  <a:txBody>
                    <a:bodyPr/>
                    <a:lstStyle/>
                    <a:p>
                      <a:r>
                        <a:rPr sz="1200"/>
                        <a:t>Downstream systems</a:t>
                      </a:r>
                    </a:p>
                  </a:txBody>
                  <a:tcPr/>
                </a:tc>
                <a:tc>
                  <a:txBody>
                    <a:bodyPr/>
                    <a:lstStyle/>
                    <a:p>
                      <a:r>
                        <a:rPr sz="1200"/>
                        <a:t>Consume closed-record exports or integration payloads; not managed in this release</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5. Container View</a:t>
            </a:r>
          </a:p>
        </p:txBody>
      </p:sp>
      <p:sp>
        <p:nvSpPr>
          <p:cNvPr id="3" name="Content Placeholder 2"/>
          <p:cNvSpPr>
            <a:spLocks noGrp="1"/>
          </p:cNvSpPr>
          <p:nvPr>
            <p:ph idx="1"/>
          </p:nvPr>
        </p:nvSpPr>
        <p:spPr/>
        <p:txBody>
          <a:bodyPr/>
          <a:lstStyle/>
          <a:p>
            <a:r>
              <a:rPr sz="1500"/>
              <a:t>Technology: Angular + Ionic</a:t>
            </a:r>
          </a:p>
          <a:p>
            <a:r>
              <a:rPr sz="1500"/>
              <a:t>Responsibilities:</a:t>
            </a:r>
          </a:p>
          <a:p>
            <a:r>
              <a:rPr sz="1500"/>
              <a:t>render responsive screens,</a:t>
            </a:r>
          </a:p>
          <a:p>
            <a:r>
              <a:rPr sz="1500"/>
              <a:t>manage client-side routing,</a:t>
            </a:r>
          </a:p>
          <a:p>
            <a:r>
              <a:rPr sz="1500"/>
              <a:t>perform client-side validation,</a:t>
            </a:r>
          </a:p>
          <a:p>
            <a:r>
              <a:rPr sz="1500"/>
              <a:t>acquire tokens from identity provider,</a:t>
            </a:r>
          </a:p>
          <a:p>
            <a:r>
              <a:rPr sz="1500"/>
              <a:t>call backend APIs,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6. Logical Component Design</a:t>
            </a:r>
          </a:p>
        </p:txBody>
      </p:sp>
      <p:graphicFrame>
        <p:nvGraphicFramePr>
          <p:cNvPr id="3" name="Table 2"/>
          <p:cNvGraphicFramePr>
            <a:graphicFrameLocks noGrp="1"/>
          </p:cNvGraphicFramePr>
          <p:nvPr/>
        </p:nvGraphicFramePr>
        <p:xfrm>
          <a:off x="548640" y="137160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300"/>
                        <a:t>Component</a:t>
                      </a:r>
                    </a:p>
                  </a:txBody>
                  <a:tcPr/>
                </a:tc>
                <a:tc>
                  <a:txBody>
                    <a:bodyPr/>
                    <a:lstStyle/>
                    <a:p>
                      <a:r>
                        <a:rPr sz="1300"/>
                        <a:t>Responsibilities</a:t>
                      </a:r>
                    </a:p>
                  </a:txBody>
                  <a:tcPr/>
                </a:tc>
              </a:tr>
              <a:tr h="365760">
                <a:tc>
                  <a:txBody>
                    <a:bodyPr/>
                    <a:lstStyle/>
                    <a:p>
                      <a:r>
                        <a:rPr sz="1200"/>
                        <a:t>Auth Adapter</a:t>
                      </a:r>
                    </a:p>
                  </a:txBody>
                  <a:tcPr/>
                </a:tc>
                <a:tc>
                  <a:txBody>
                    <a:bodyPr/>
                    <a:lstStyle/>
                    <a:p>
                      <a:r>
                        <a:rPr sz="1200"/>
                        <a:t>Validate tokens, map claims to application roles</a:t>
                      </a:r>
                    </a:p>
                  </a:txBody>
                  <a:tcPr/>
                </a:tc>
              </a:tr>
              <a:tr h="365760">
                <a:tc>
                  <a:txBody>
                    <a:bodyPr/>
                    <a:lstStyle/>
                    <a:p>
                      <a:r>
                        <a:rPr sz="1200"/>
                        <a:t>User Context Service</a:t>
                      </a:r>
                    </a:p>
                  </a:txBody>
                  <a:tcPr/>
                </a:tc>
                <a:tc>
                  <a:txBody>
                    <a:bodyPr/>
                    <a:lstStyle/>
                    <a:p>
                      <a:r>
                        <a:rPr sz="1200"/>
                        <a:t>Resolve current user permissions and scoped access</a:t>
                      </a:r>
                    </a:p>
                  </a:txBody>
                  <a:tcPr/>
                </a:tc>
              </a:tr>
              <a:tr h="365760">
                <a:tc>
                  <a:txBody>
                    <a:bodyPr/>
                    <a:lstStyle/>
                    <a:p>
                      <a:r>
                        <a:rPr sz="1200"/>
                        <a:t>Incident Service</a:t>
                      </a:r>
                    </a:p>
                  </a:txBody>
                  <a:tcPr/>
                </a:tc>
                <a:tc>
                  <a:txBody>
                    <a:bodyPr/>
                    <a:lstStyle/>
                    <a:p>
                      <a:r>
                        <a:rPr sz="1200"/>
                        <a:t>Create/update incident reports, retrieve summaries/details</a:t>
                      </a:r>
                    </a:p>
                  </a:txBody>
                  <a:tcPr/>
                </a:tc>
              </a:tr>
              <a:tr h="365760">
                <a:tc>
                  <a:txBody>
                    <a:bodyPr/>
                    <a:lstStyle/>
                    <a:p>
                      <a:r>
                        <a:rPr sz="1200"/>
                        <a:t>Triage Service</a:t>
                      </a:r>
                    </a:p>
                  </a:txBody>
                  <a:tcPr/>
                </a:tc>
                <a:tc>
                  <a:txBody>
                    <a:bodyPr/>
                    <a:lstStyle/>
                    <a:p>
                      <a:r>
                        <a:rPr sz="1200"/>
                        <a:t>Classify incidents, assign ownership, record notification decisions</a:t>
                      </a:r>
                    </a:p>
                  </a:txBody>
                  <a:tcPr/>
                </a:tc>
              </a:tr>
              <a:tr h="365760">
                <a:tc>
                  <a:txBody>
                    <a:bodyPr/>
                    <a:lstStyle/>
                    <a:p>
                      <a:r>
                        <a:rPr sz="1200"/>
                        <a:t>Notification Adapter</a:t>
                      </a:r>
                    </a:p>
                  </a:txBody>
                  <a:tcPr/>
                </a:tc>
                <a:tc>
                  <a:txBody>
                    <a:bodyPr/>
                    <a:lstStyle/>
                    <a:p>
                      <a:r>
                        <a:rPr sz="1200"/>
                        <a:t>Abstract outbound notification provider and delivery recording</a:t>
                      </a:r>
                    </a:p>
                  </a:txBody>
                  <a:tcPr/>
                </a:tc>
              </a:tr>
              <a:tr h="365760">
                <a:tc>
                  <a:txBody>
                    <a:bodyPr/>
                    <a:lstStyle/>
                    <a:p>
                      <a:r>
                        <a:rPr sz="1200"/>
                        <a:t>Investigation Service</a:t>
                      </a:r>
                    </a:p>
                  </a:txBody>
                  <a:tcPr/>
                </a:tc>
                <a:tc>
                  <a:txBody>
                    <a:bodyPr/>
                    <a:lstStyle/>
                    <a:p>
                      <a:r>
                        <a:rPr sz="1200"/>
                        <a:t>Manage investigation notes, findings, evidence metadata</a:t>
                      </a:r>
                    </a:p>
                  </a:txBody>
                  <a:tcPr/>
                </a:tc>
              </a:tr>
              <a:tr h="365760">
                <a:tc>
                  <a:txBody>
                    <a:bodyPr/>
                    <a:lstStyle/>
                    <a:p>
                      <a:r>
                        <a:rPr sz="1200"/>
                        <a:t>Corrective Action Service</a:t>
                      </a:r>
                    </a:p>
                  </a:txBody>
                  <a:tcPr/>
                </a:tc>
                <a:tc>
                  <a:txBody>
                    <a:bodyPr/>
                    <a:lstStyle/>
                    <a:p>
                      <a:r>
                        <a:rPr sz="1200"/>
                        <a:t>Create/assign/update/verify actions</a:t>
                      </a:r>
                    </a:p>
                  </a:txBody>
                  <a:tcPr/>
                </a:tc>
              </a:tr>
              <a:tr h="365760">
                <a:tc>
                  <a:txBody>
                    <a:bodyPr/>
                    <a:lstStyle/>
                    <a:p>
                      <a:r>
                        <a:rPr sz="1200"/>
                        <a:t>Closure Service</a:t>
                      </a:r>
                    </a:p>
                  </a:txBody>
                  <a:tcPr/>
                </a:tc>
                <a:tc>
                  <a:txBody>
                    <a:bodyPr/>
                    <a:lstStyle/>
                    <a:p>
                      <a:r>
                        <a:rPr sz="1200"/>
                        <a:t>Enforce closure rules and produce closed record</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7. Data Model</a:t>
            </a:r>
          </a:p>
        </p:txBody>
      </p:sp>
      <p:sp>
        <p:nvSpPr>
          <p:cNvPr id="3" name="Content Placeholder 2"/>
          <p:cNvSpPr>
            <a:spLocks noGrp="1"/>
          </p:cNvSpPr>
          <p:nvPr>
            <p:ph idx="1"/>
          </p:nvPr>
        </p:nvSpPr>
        <p:spPr/>
        <p:txBody>
          <a:bodyPr/>
          <a:lstStyle/>
          <a:p>
            <a:r>
              <a:rPr sz="1500"/>
              <a:t>The following relational model is proposed.</a:t>
            </a:r>
          </a:p>
          <a:p>
            <a:r>
              <a:rPr sz="1500"/>
              <a:t>incident_id</a:t>
            </a:r>
          </a:p>
          <a:p>
            <a:r>
              <a:rPr sz="1500"/>
              <a:t>incident_number</a:t>
            </a:r>
          </a:p>
          <a:p>
            <a:r>
              <a:rPr sz="1500"/>
              <a:t>reported_at</a:t>
            </a:r>
          </a:p>
          <a:p>
            <a:r>
              <a:rPr sz="1500"/>
              <a:t>occurred_at</a:t>
            </a:r>
          </a:p>
          <a:p>
            <a:r>
              <a:rPr sz="1500"/>
              <a:t>location</a:t>
            </a:r>
          </a:p>
          <a:p>
            <a:r>
              <a:rPr sz="1500"/>
              <a:t>incident_type_code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8. Workflow and State Model</a:t>
            </a:r>
          </a:p>
        </p:txBody>
      </p:sp>
      <p:sp>
        <p:nvSpPr>
          <p:cNvPr id="3" name="Content Placeholder 2"/>
          <p:cNvSpPr>
            <a:spLocks noGrp="1"/>
          </p:cNvSpPr>
          <p:nvPr>
            <p:ph idx="1"/>
          </p:nvPr>
        </p:nvSpPr>
        <p:spPr/>
        <p:txBody>
          <a:bodyPr/>
          <a:lstStyle/>
          <a:p>
            <a:r>
              <a:rPr sz="1500"/>
              <a:t>Proposed incident states:</a:t>
            </a:r>
          </a:p>
          <a:p>
            <a:r>
              <a:rPr sz="1500"/>
              <a:t>Draft</a:t>
            </a:r>
          </a:p>
          <a:p>
            <a:r>
              <a:rPr sz="1500"/>
              <a:t>Submitted</a:t>
            </a:r>
          </a:p>
          <a:p>
            <a:r>
              <a:rPr sz="1500"/>
              <a:t>UnderTriage</a:t>
            </a:r>
          </a:p>
          <a:p>
            <a:r>
              <a:rPr sz="1500"/>
              <a:t>InvestigationInProgress</a:t>
            </a:r>
          </a:p>
          <a:p>
            <a:r>
              <a:rPr sz="1500"/>
              <a:t>ActionInProgress</a:t>
            </a:r>
          </a:p>
          <a:p>
            <a:r>
              <a:rPr sz="1500"/>
              <a:t>PendingVerification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9. API Design Approach</a:t>
            </a:r>
          </a:p>
        </p:txBody>
      </p:sp>
      <p:sp>
        <p:nvSpPr>
          <p:cNvPr id="3" name="Content Placeholder 2"/>
          <p:cNvSpPr>
            <a:spLocks noGrp="1"/>
          </p:cNvSpPr>
          <p:nvPr>
            <p:ph idx="1"/>
          </p:nvPr>
        </p:nvSpPr>
        <p:spPr/>
        <p:txBody>
          <a:bodyPr/>
          <a:lstStyle/>
          <a:p>
            <a:r>
              <a:rPr sz="1500"/>
              <a:t>RESTful JSON APIs</a:t>
            </a:r>
          </a:p>
          <a:p>
            <a:r>
              <a:rPr sz="1500"/>
              <a:t>OpenAPI generated from FastAPI</a:t>
            </a:r>
          </a:p>
          <a:p>
            <a:r>
              <a:rPr sz="1500"/>
              <a:t>versioning via configurable route prefix in config/</a:t>
            </a:r>
          </a:p>
          <a:p>
            <a:r>
              <a:rPr sz="1500"/>
              <a:t>Server-side validation is authoritative.</a:t>
            </a:r>
          </a:p>
          <a:p>
            <a:r>
              <a:rPr sz="1500"/>
              <a:t>Role checks enforced per endpoint and per resource.</a:t>
            </a:r>
          </a:p>
          <a:p>
            <a:r>
              <a:rPr sz="1500"/>
              <a:t>Use idempotency where appropriate for create/submit operations if mobile retries are expected.</a:t>
            </a:r>
          </a:p>
          <a:p>
            <a:r>
              <a:rPr sz="1500"/>
              <a:t>Return structured error payloads with user-displayable messages and correlation IDs.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10. Integration Points</a:t>
            </a:r>
          </a:p>
        </p:txBody>
      </p:sp>
      <p:sp>
        <p:nvSpPr>
          <p:cNvPr id="3" name="Content Placeholder 2"/>
          <p:cNvSpPr>
            <a:spLocks noGrp="1"/>
          </p:cNvSpPr>
          <p:nvPr>
            <p:ph idx="1"/>
          </p:nvPr>
        </p:nvSpPr>
        <p:spPr/>
        <p:txBody>
          <a:bodyPr/>
          <a:lstStyle/>
          <a:p>
            <a:r>
              <a:rPr sz="1500"/>
              <a:t>Purpose: user sign-in and token issuance</a:t>
            </a:r>
          </a:p>
          <a:p>
            <a:r>
              <a:rPr sz="1500"/>
              <a:t>Pattern: OIDC/OAuth2 authorization code flow with PKCE for SPA</a:t>
            </a:r>
          </a:p>
          <a:p>
            <a:r>
              <a:rPr sz="1500"/>
              <a:t>Direction: UI/API consume identity provider</a:t>
            </a:r>
          </a:p>
          <a:p>
            <a:r>
              <a:rPr sz="1500"/>
              <a:t>Notes: roles may come from claims, groups, or app-role mapping</a:t>
            </a:r>
          </a:p>
          <a:p>
            <a:r>
              <a:rPr sz="1500"/>
              <a:t>Purpose: send or record notifications triggered during triage/investigation</a:t>
            </a:r>
          </a:p>
          <a:p>
            <a:r>
              <a:rPr sz="1500"/>
              <a:t>Pattern: adapter abstraction behind API service</a:t>
            </a:r>
          </a:p>
          <a:p>
            <a:r>
              <a:rPr sz="1500"/>
              <a:t>Initial scope: record notification intent and status; actual provider integration configurable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11. Security Architecture</a:t>
            </a:r>
          </a:p>
        </p:txBody>
      </p:sp>
      <p:sp>
        <p:nvSpPr>
          <p:cNvPr id="3" name="Content Placeholder 2"/>
          <p:cNvSpPr>
            <a:spLocks noGrp="1"/>
          </p:cNvSpPr>
          <p:nvPr>
            <p:ph idx="1"/>
          </p:nvPr>
        </p:nvSpPr>
        <p:spPr/>
        <p:txBody>
          <a:bodyPr/>
          <a:lstStyle/>
          <a:p>
            <a:r>
              <a:rPr sz="1500"/>
              <a:t>protect sensitive incident and person-related data,</a:t>
            </a:r>
          </a:p>
          <a:p>
            <a:r>
              <a:rPr sz="1500"/>
              <a:t>ensure only authorized roles can perform workflow actions,</a:t>
            </a:r>
          </a:p>
          <a:p>
            <a:r>
              <a:rPr sz="1500"/>
              <a:t>preserve auditability,</a:t>
            </a:r>
          </a:p>
          <a:p>
            <a:r>
              <a:rPr sz="1500"/>
              <a:t>avoid secret sprawl,</a:t>
            </a:r>
          </a:p>
          <a:p>
            <a:r>
              <a:rPr sz="1500"/>
              <a:t>support secure Dev deployment.</a:t>
            </a:r>
          </a:p>
          <a:p>
            <a:r>
              <a:rPr sz="1500"/>
              <a:t>OIDC/OAuth2 with centralized identity provider</a:t>
            </a:r>
          </a:p>
          <a:p>
            <a:r>
              <a:rPr sz="1500"/>
              <a:t>SPA obtains access token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12. Deployment Topology</a:t>
            </a:r>
          </a:p>
        </p:txBody>
      </p:sp>
      <p:sp>
        <p:nvSpPr>
          <p:cNvPr id="3" name="Content Placeholder 2"/>
          <p:cNvSpPr>
            <a:spLocks noGrp="1"/>
          </p:cNvSpPr>
          <p:nvPr>
            <p:ph idx="1"/>
          </p:nvPr>
        </p:nvSpPr>
        <p:spPr/>
        <p:txBody>
          <a:bodyPr/>
          <a:lstStyle/>
          <a:p>
            <a:r>
              <a:rPr sz="1500"/>
              <a:t>Because the target environment is Dev and Azure-compatible identity/hosting are natural fits, the following topology is recommended:</a:t>
            </a:r>
          </a:p>
          <a:p>
            <a:r>
              <a:rPr sz="1500"/>
              <a:t>UI hosted as static web app or web app</a:t>
            </a:r>
          </a:p>
          <a:p>
            <a:r>
              <a:rPr sz="1500"/>
              <a:t>FastAPI hosted on managed web app/container-capable service</a:t>
            </a:r>
          </a:p>
          <a:p>
            <a:r>
              <a:rPr sz="1500"/>
              <a:t>PostgreSQL managed service</a:t>
            </a:r>
          </a:p>
          <a:p>
            <a:r>
              <a:rPr sz="1500"/>
              <a:t>managed identity for API to access secret store/telemetry where applicable</a:t>
            </a:r>
          </a:p>
          <a:p>
            <a:r>
              <a:rPr sz="1500"/>
              <a:t>observability via platform-native monitoring</a:t>
            </a:r>
          </a:p>
          <a:p>
            <a:r>
              <a:rPr sz="1500"/>
              <a:t>If a different hosting platform is mandated later, the application design remains portable.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13. Operational Considerations</a:t>
            </a:r>
          </a:p>
        </p:txBody>
      </p:sp>
      <p:sp>
        <p:nvSpPr>
          <p:cNvPr id="3" name="Content Placeholder 2"/>
          <p:cNvSpPr>
            <a:spLocks noGrp="1"/>
          </p:cNvSpPr>
          <p:nvPr>
            <p:ph idx="1"/>
          </p:nvPr>
        </p:nvSpPr>
        <p:spPr/>
        <p:txBody>
          <a:bodyPr/>
          <a:lstStyle/>
          <a:p>
            <a:r>
              <a:rPr sz="1500"/>
              <a:t>structured JSON logs</a:t>
            </a:r>
          </a:p>
          <a:p>
            <a:r>
              <a:rPr sz="1500"/>
              <a:t>request correlation IDs</a:t>
            </a:r>
          </a:p>
          <a:p>
            <a:r>
              <a:rPr sz="1500"/>
              <a:t>API latency/error metrics</a:t>
            </a:r>
          </a:p>
          <a:p>
            <a:r>
              <a:rPr sz="1500"/>
              <a:t>trace spans for major workflow operations</a:t>
            </a:r>
          </a:p>
          <a:p>
            <a:r>
              <a:rPr sz="1500"/>
              <a:t>dashboard for failed submissions, auth failures, and closure validation failures</a:t>
            </a:r>
          </a:p>
          <a:p>
            <a:r>
              <a:rPr sz="1500"/>
              <a:t>transactional DB operations for workflow changes</a:t>
            </a:r>
          </a:p>
          <a:p>
            <a:r>
              <a:rPr sz="1500"/>
              <a:t>retry-safe client submission patterns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67B8"/>
                </a:solidFill>
              </a:rPr>
              <a:t>14. Testing Strategy Alignment</a:t>
            </a:r>
          </a:p>
        </p:txBody>
      </p:sp>
      <p:sp>
        <p:nvSpPr>
          <p:cNvPr id="3" name="Content Placeholder 2"/>
          <p:cNvSpPr>
            <a:spLocks noGrp="1"/>
          </p:cNvSpPr>
          <p:nvPr>
            <p:ph idx="1"/>
          </p:nvPr>
        </p:nvSpPr>
        <p:spPr/>
        <p:txBody>
          <a:bodyPr/>
          <a:lstStyle/>
          <a:p>
            <a:r>
              <a:rPr sz="1500"/>
              <a:t>The architecture supports the required automated tests through the following layers:</a:t>
            </a:r>
          </a:p>
          <a:p>
            <a:r>
              <a:rPr sz="1500"/>
              <a:t>Key workflow to automate first:</a:t>
            </a:r>
          </a:p>
          <a:p>
            <a:r>
              <a:rPr sz="1500"/>
              <a:t>reporter submits incident,</a:t>
            </a:r>
          </a:p>
          <a:p>
            <a:r>
              <a:rPr sz="1500"/>
              <a:t>safety lead triages and records notification,</a:t>
            </a:r>
          </a:p>
          <a:p>
            <a:r>
              <a:rPr sz="1500"/>
              <a:t>investigation completed,</a:t>
            </a:r>
          </a:p>
          <a:p>
            <a:r>
              <a:rPr sz="1500"/>
              <a:t>corrective action assigned and completed,</a:t>
            </a:r>
          </a:p>
          <a:p>
            <a:r>
              <a:rPr sz="1500"/>
              <a:t>verification recorded,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